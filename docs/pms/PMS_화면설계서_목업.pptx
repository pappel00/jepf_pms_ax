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071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 화면 설계서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메뉴별 화면(목업) 및 기능 설명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JEPF 기반 Project Management System · 목업(더미 데이터) 기준 · 2026-10-13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구성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→ 수주 → 수행단계전환 → 수행 → 운영단계전환 → 운영</a:t>
            </a:r>
            <a:endParaRPr lang="en-US" sz="1600" dirty="0"/>
          </a:p>
        </p:txBody>
      </p:sp>
      <p:sp>
        <p:nvSpPr>
          <p:cNvPr id="4" name="menu-card-0"/>
          <p:cNvSpPr/>
          <p:nvPr/>
        </p:nvSpPr>
        <p:spPr>
          <a:xfrm>
            <a:off x="548640" y="1737360"/>
            <a:ext cx="2103120" cy="4023360"/>
          </a:xfrm>
          <a:prstGeom prst="roundRect">
            <a:avLst>
              <a:gd name="adj" fmla="val 4348"/>
            </a:avLst>
          </a:prstGeom>
          <a:solidFill>
            <a:srgbClr val="EEF1FD"/>
          </a:solidFill>
          <a:ln w="9525">
            <a:solidFill>
              <a:srgbClr val="D5DA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단계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68880"/>
            <a:ext cx="1828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관리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RFP 관리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RFP 평가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RFP 평가 관리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제안서 관리</a:t>
            </a:r>
            <a:endParaRPr lang="en-US" sz="1400" dirty="0"/>
          </a:p>
        </p:txBody>
      </p:sp>
      <p:sp>
        <p:nvSpPr>
          <p:cNvPr id="7" name="menu-card-1"/>
          <p:cNvSpPr/>
          <p:nvPr/>
        </p:nvSpPr>
        <p:spPr>
          <a:xfrm>
            <a:off x="2816352" y="1737360"/>
            <a:ext cx="2103120" cy="4023360"/>
          </a:xfrm>
          <a:prstGeom prst="roundRect">
            <a:avLst>
              <a:gd name="adj" fmla="val 4348"/>
            </a:avLst>
          </a:prstGeom>
          <a:solidFill>
            <a:srgbClr val="EEF1FD"/>
          </a:solidFill>
          <a:ln w="9525">
            <a:solidFill>
              <a:srgbClr val="D5DA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53512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단계전환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953512" y="2468880"/>
            <a:ext cx="1828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수행단계전환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운영단계전환</a:t>
            </a:r>
            <a:endParaRPr lang="en-US" sz="1400" dirty="0"/>
          </a:p>
        </p:txBody>
      </p:sp>
      <p:sp>
        <p:nvSpPr>
          <p:cNvPr id="10" name="menu-card-2"/>
          <p:cNvSpPr/>
          <p:nvPr/>
        </p:nvSpPr>
        <p:spPr>
          <a:xfrm>
            <a:off x="5084064" y="1737360"/>
            <a:ext cx="2103120" cy="4023360"/>
          </a:xfrm>
          <a:prstGeom prst="roundRect">
            <a:avLst>
              <a:gd name="adj" fmla="val 4348"/>
            </a:avLst>
          </a:prstGeom>
          <a:solidFill>
            <a:srgbClr val="EEF1FD"/>
          </a:solidFill>
          <a:ln w="9525">
            <a:solidFill>
              <a:srgbClr val="D5DA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21224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단계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21224" y="2468880"/>
            <a:ext cx="1828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관리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테일러링 관리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WBS / 진척 관리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이슈 관리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보고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보고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업무 대시보드</a:t>
            </a:r>
            <a:endParaRPr lang="en-US" sz="1400" dirty="0"/>
          </a:p>
        </p:txBody>
      </p:sp>
      <p:sp>
        <p:nvSpPr>
          <p:cNvPr id="13" name="menu-card-3"/>
          <p:cNvSpPr/>
          <p:nvPr/>
        </p:nvSpPr>
        <p:spPr>
          <a:xfrm>
            <a:off x="7351776" y="1737360"/>
            <a:ext cx="2103120" cy="4023360"/>
          </a:xfrm>
          <a:prstGeom prst="roundRect">
            <a:avLst>
              <a:gd name="adj" fmla="val 4348"/>
            </a:avLst>
          </a:prstGeom>
          <a:solidFill>
            <a:srgbClr val="EEF1FD"/>
          </a:solidFill>
          <a:ln w="9525">
            <a:solidFill>
              <a:srgbClr val="D5DA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88936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단계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488936" y="2468880"/>
            <a:ext cx="1828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관리</a:t>
            </a:r>
            <a:endParaRPr lang="en-US" sz="1400" dirty="0"/>
          </a:p>
        </p:txBody>
      </p:sp>
      <p:sp>
        <p:nvSpPr>
          <p:cNvPr id="16" name="menu-card-4"/>
          <p:cNvSpPr/>
          <p:nvPr/>
        </p:nvSpPr>
        <p:spPr>
          <a:xfrm>
            <a:off x="9619488" y="1737360"/>
            <a:ext cx="2103120" cy="4023360"/>
          </a:xfrm>
          <a:prstGeom prst="roundRect">
            <a:avLst>
              <a:gd name="adj" fmla="val 4348"/>
            </a:avLst>
          </a:prstGeom>
          <a:solidFill>
            <a:srgbClr val="EEF1FD"/>
          </a:solidFill>
          <a:ln w="9525">
            <a:solidFill>
              <a:srgbClr val="D5DA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56648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인력관리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756648" y="2468880"/>
            <a:ext cx="1828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 관리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화면은 목업(더미 데이터)이며, 새로고침하면 초기 상태로 돌아갑니다.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45720" y="45720"/>
            <a:ext cx="12100255" cy="6766560"/>
          </a:xfrm>
          <a:prstGeom prst="rect">
            <a:avLst/>
          </a:prstGeom>
          <a:ln w="9525">
            <a:solidFill>
              <a:srgbClr val="1F2937"/>
            </a:solidFill>
            <a:prstDash val="solid"/>
          </a:ln>
        </p:spPr>
      </p:sp>
      <p:sp>
        <p:nvSpPr>
          <p:cNvPr id="3" name="header-line"/>
          <p:cNvSpPr/>
          <p:nvPr/>
        </p:nvSpPr>
        <p:spPr>
          <a:xfrm>
            <a:off x="45720" y="566928"/>
            <a:ext cx="1210025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" name="divider"/>
          <p:cNvSpPr/>
          <p:nvPr/>
        </p:nvSpPr>
        <p:spPr>
          <a:xfrm>
            <a:off x="8778240" y="45720"/>
            <a:ext cx="0" cy="67665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9144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: 영업 단계 &gt; 프로젝트 관리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15400" y="91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800" dirty="0"/>
          </a:p>
        </p:txBody>
      </p:sp>
      <p:pic>
        <p:nvPicPr>
          <p:cNvPr id="7" name="Image 0" descr="영업 단계 &gt; 프로젝트 관리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76656"/>
            <a:ext cx="8549640" cy="4726051"/>
          </a:xfrm>
          <a:prstGeom prst="rect">
            <a:avLst/>
          </a:prstGeom>
        </p:spPr>
      </p:pic>
      <p:sp>
        <p:nvSpPr>
          <p:cNvPr id="8" name="screen-border"/>
          <p:cNvSpPr/>
          <p:nvPr/>
        </p:nvSpPr>
        <p:spPr>
          <a:xfrm>
            <a:off x="182880" y="676656"/>
            <a:ext cx="8549640" cy="4726051"/>
          </a:xfrm>
          <a:prstGeom prst="rect">
            <a:avLst/>
          </a:prstGeom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713232"/>
            <a:ext cx="310896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 전·공고 중·제안 중·평가 중·협상 중·수주·수행 중·수행 종료·운영 중·실패·보류/취소까지 사업(프로젝트)을 한 목록에서 관리합니다.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집계: 영업 진행 건수·금액, 가중 예상금액(금액×확률), 수주 금액, 수주율.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칩(건수), 검색(프로젝트명·발주사·코드), 영업 담당자 필터.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등록/수정: 프로젝트명·발주사·발주금액·기간·영업 담당자(사용자 관리 연동)·상태·확률도는 필수, 발주사 담당자·연락처는 제안 단계부터 필수(조건부).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상태를 바꾸면 수주 확률도 기본값을 자동 제안하고, 제안 마감일은 D-day로 표시합니다.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45720" y="45720"/>
            <a:ext cx="12100255" cy="6766560"/>
          </a:xfrm>
          <a:prstGeom prst="rect">
            <a:avLst/>
          </a:prstGeom>
          <a:ln w="9525">
            <a:solidFill>
              <a:srgbClr val="1F2937"/>
            </a:solidFill>
            <a:prstDash val="solid"/>
          </a:ln>
        </p:spPr>
      </p:sp>
      <p:sp>
        <p:nvSpPr>
          <p:cNvPr id="3" name="header-line"/>
          <p:cNvSpPr/>
          <p:nvPr/>
        </p:nvSpPr>
        <p:spPr>
          <a:xfrm>
            <a:off x="45720" y="566928"/>
            <a:ext cx="1210025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" name="divider"/>
          <p:cNvSpPr/>
          <p:nvPr/>
        </p:nvSpPr>
        <p:spPr>
          <a:xfrm>
            <a:off x="8778240" y="45720"/>
            <a:ext cx="0" cy="67665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9144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: 영업 단계 &gt; RFP 관리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15400" y="91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800" dirty="0"/>
          </a:p>
        </p:txBody>
      </p:sp>
      <p:pic>
        <p:nvPicPr>
          <p:cNvPr id="7" name="Image 0" descr="영업 단계 &gt; RFP 관리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76656"/>
            <a:ext cx="7960268" cy="6080760"/>
          </a:xfrm>
          <a:prstGeom prst="rect">
            <a:avLst/>
          </a:prstGeom>
        </p:spPr>
      </p:pic>
      <p:sp>
        <p:nvSpPr>
          <p:cNvPr id="8" name="screen-border"/>
          <p:cNvSpPr/>
          <p:nvPr/>
        </p:nvSpPr>
        <p:spPr>
          <a:xfrm>
            <a:off x="182880" y="676656"/>
            <a:ext cx="7960268" cy="6080760"/>
          </a:xfrm>
          <a:prstGeom prst="rect">
            <a:avLst/>
          </a:prstGeom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713232"/>
            <a:ext cx="310896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프로젝트에 연결된 발주사 RFP 문서를 접수(원본 업로드)하고 항목 단위로 세분화해 관리합니다.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정리 방식: 엑셀 템플릿 업로드(권장) 또는 수동 입력.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항목: 발주사 원문 분류(SFR·PER·SER 등), 영역, 항목명, 요구사항 원문, 원문 페이지, 필수/선택.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평가자(수행 조직 PM)를 1명 이상 지정하면 항목별 평가 현황과 진행률이 표시됩니다.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RFP 상태는 접수 → 항목 정리 중 → 평가 중 → 평가 완료로 자동 계산됩니다.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45720" y="45720"/>
            <a:ext cx="12100255" cy="6766560"/>
          </a:xfrm>
          <a:prstGeom prst="rect">
            <a:avLst/>
          </a:prstGeom>
          <a:ln w="9525">
            <a:solidFill>
              <a:srgbClr val="1F2937"/>
            </a:solidFill>
            <a:prstDash val="solid"/>
          </a:ln>
        </p:spPr>
      </p:sp>
      <p:sp>
        <p:nvSpPr>
          <p:cNvPr id="3" name="header-line"/>
          <p:cNvSpPr/>
          <p:nvPr/>
        </p:nvSpPr>
        <p:spPr>
          <a:xfrm>
            <a:off x="45720" y="566928"/>
            <a:ext cx="1210025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" name="divider"/>
          <p:cNvSpPr/>
          <p:nvPr/>
        </p:nvSpPr>
        <p:spPr>
          <a:xfrm>
            <a:off x="8778240" y="45720"/>
            <a:ext cx="0" cy="67665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9144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: 영업 단계 &gt; RFP 평가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15400" y="91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800" dirty="0"/>
          </a:p>
        </p:txBody>
      </p:sp>
      <p:pic>
        <p:nvPicPr>
          <p:cNvPr id="7" name="Image 0" descr="영업 단계 &gt; RFP 평가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76656"/>
            <a:ext cx="8371218" cy="6080760"/>
          </a:xfrm>
          <a:prstGeom prst="rect">
            <a:avLst/>
          </a:prstGeom>
        </p:spPr>
      </p:pic>
      <p:sp>
        <p:nvSpPr>
          <p:cNvPr id="8" name="screen-border"/>
          <p:cNvSpPr/>
          <p:nvPr/>
        </p:nvSpPr>
        <p:spPr>
          <a:xfrm>
            <a:off x="182880" y="676656"/>
            <a:ext cx="8371218" cy="6080760"/>
          </a:xfrm>
          <a:prstGeom prst="rect">
            <a:avLst/>
          </a:prstGeom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713232"/>
            <a:ext cx="310896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지정된 평가자(PM)가 항목마다 기능/비기능 구분, 구현 여부, 난이도, 예상 M/D를 입력합니다.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블라인드 평가: 본인 평가만 보이고 다른 평가자의 평가는 볼 수 없습니다.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분류(SFR 등)별 M/D 소계와 하단 M/D 총합, 기능/비기능 건수를 집계합니다.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항목을 입력해야 평가를 제출할 수 있고, 제출 후에는 수정할 수 없습니다.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45720" y="45720"/>
            <a:ext cx="12100255" cy="6766560"/>
          </a:xfrm>
          <a:prstGeom prst="rect">
            <a:avLst/>
          </a:prstGeom>
          <a:ln w="9525">
            <a:solidFill>
              <a:srgbClr val="1F2937"/>
            </a:solidFill>
            <a:prstDash val="solid"/>
          </a:ln>
        </p:spPr>
      </p:sp>
      <p:sp>
        <p:nvSpPr>
          <p:cNvPr id="3" name="header-line"/>
          <p:cNvSpPr/>
          <p:nvPr/>
        </p:nvSpPr>
        <p:spPr>
          <a:xfrm>
            <a:off x="45720" y="566928"/>
            <a:ext cx="1210025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" name="divider"/>
          <p:cNvSpPr/>
          <p:nvPr/>
        </p:nvSpPr>
        <p:spPr>
          <a:xfrm>
            <a:off x="8778240" y="45720"/>
            <a:ext cx="0" cy="67665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9144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: 영업 단계 &gt; RFP 평가 관리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15400" y="91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800" dirty="0"/>
          </a:p>
        </p:txBody>
      </p:sp>
      <p:pic>
        <p:nvPicPr>
          <p:cNvPr id="7" name="Image 0" descr="영업 단계 &gt; RFP 평가 관리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76656"/>
            <a:ext cx="7960268" cy="6080760"/>
          </a:xfrm>
          <a:prstGeom prst="rect">
            <a:avLst/>
          </a:prstGeom>
        </p:spPr>
      </p:pic>
      <p:sp>
        <p:nvSpPr>
          <p:cNvPr id="8" name="screen-border"/>
          <p:cNvSpPr/>
          <p:nvPr/>
        </p:nvSpPr>
        <p:spPr>
          <a:xfrm>
            <a:off x="182880" y="676656"/>
            <a:ext cx="7960268" cy="6080760"/>
          </a:xfrm>
          <a:prstGeom prst="rect">
            <a:avLst/>
          </a:prstGeom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713232"/>
            <a:ext cx="310896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관리자가 항목별 평가 현황을 평가자별 열로 나란히 비교합니다(자동 평균·합산 없음).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완료된 평가만 표시하며 작성 중 초안은 보이지 않습니다. 평가자별 제출 현황과 재평가 요청을 제공합니다.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평가자마다 구분이 다른 항목은 「구분 상이」로 표시합니다.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분류별 M/D 소계와 하단 M/D 총합, 기능/비기능 항목 수를 평가자별로 보여줍니다.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45720" y="45720"/>
            <a:ext cx="12100255" cy="6766560"/>
          </a:xfrm>
          <a:prstGeom prst="rect">
            <a:avLst/>
          </a:prstGeom>
          <a:ln w="9525">
            <a:solidFill>
              <a:srgbClr val="1F2937"/>
            </a:solidFill>
            <a:prstDash val="solid"/>
          </a:ln>
        </p:spPr>
      </p:sp>
      <p:sp>
        <p:nvSpPr>
          <p:cNvPr id="3" name="header-line"/>
          <p:cNvSpPr/>
          <p:nvPr/>
        </p:nvSpPr>
        <p:spPr>
          <a:xfrm>
            <a:off x="45720" y="566928"/>
            <a:ext cx="1210025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" name="divider"/>
          <p:cNvSpPr/>
          <p:nvPr/>
        </p:nvSpPr>
        <p:spPr>
          <a:xfrm>
            <a:off x="8778240" y="45720"/>
            <a:ext cx="0" cy="67665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9144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: 영업 단계 &gt; 제안서 관리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15400" y="91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800" dirty="0"/>
          </a:p>
        </p:txBody>
      </p:sp>
      <p:pic>
        <p:nvPicPr>
          <p:cNvPr id="7" name="Image 0" descr="영업 단계 &gt; 제안서 관리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76656"/>
            <a:ext cx="7960268" cy="6080760"/>
          </a:xfrm>
          <a:prstGeom prst="rect">
            <a:avLst/>
          </a:prstGeom>
        </p:spPr>
      </p:pic>
      <p:sp>
        <p:nvSpPr>
          <p:cNvPr id="8" name="screen-border"/>
          <p:cNvSpPr/>
          <p:nvPr/>
        </p:nvSpPr>
        <p:spPr>
          <a:xfrm>
            <a:off x="182880" y="676656"/>
            <a:ext cx="7960268" cy="6080760"/>
          </a:xfrm>
          <a:prstGeom prst="rect">
            <a:avLst/>
          </a:prstGeom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713232"/>
            <a:ext cx="310896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RFP별 제안서를 관리합니다: 책임자, 제출 마감(D-day), 제안 금액, 예상 원가·이익률, 상태(작성 중 → 내부 검토 → 제출 완료 → 결과 확정).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RFP 항목 대응표: 항목마다 제안서 목차(절), 대응 방식(수용·일부 수용·대안 제시·미수용), 요약, 담당을 입력하고 필수 항목 미대응 건수를 점검합니다.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이력(파일·작성자·변경 요약)과 제출 서류 체크리스트를 제공합니다.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45720" y="45720"/>
            <a:ext cx="12100255" cy="6766560"/>
          </a:xfrm>
          <a:prstGeom prst="rect">
            <a:avLst/>
          </a:prstGeom>
          <a:ln w="9525">
            <a:solidFill>
              <a:srgbClr val="1F2937"/>
            </a:solidFill>
            <a:prstDash val="solid"/>
          </a:ln>
        </p:spPr>
      </p:sp>
      <p:sp>
        <p:nvSpPr>
          <p:cNvPr id="3" name="header-line"/>
          <p:cNvSpPr/>
          <p:nvPr/>
        </p:nvSpPr>
        <p:spPr>
          <a:xfrm>
            <a:off x="45720" y="566928"/>
            <a:ext cx="1210025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" name="divider"/>
          <p:cNvSpPr/>
          <p:nvPr/>
        </p:nvSpPr>
        <p:spPr>
          <a:xfrm>
            <a:off x="8778240" y="45720"/>
            <a:ext cx="0" cy="67665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9144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: 단계전환 &gt; 수행단계전환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15400" y="91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800" dirty="0"/>
          </a:p>
        </p:txBody>
      </p:sp>
      <p:pic>
        <p:nvPicPr>
          <p:cNvPr id="7" name="Image 0" descr="단계전환 &gt; 수행단계전환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76656"/>
            <a:ext cx="7960268" cy="6080760"/>
          </a:xfrm>
          <a:prstGeom prst="rect">
            <a:avLst/>
          </a:prstGeom>
        </p:spPr>
      </p:pic>
      <p:sp>
        <p:nvSpPr>
          <p:cNvPr id="8" name="screen-border"/>
          <p:cNvSpPr/>
          <p:nvPr/>
        </p:nvSpPr>
        <p:spPr>
          <a:xfrm>
            <a:off x="182880" y="676656"/>
            <a:ext cx="7960268" cy="6080760"/>
          </a:xfrm>
          <a:prstGeom prst="rect">
            <a:avLst/>
          </a:prstGeom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713232"/>
            <a:ext cx="310896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수주가 확정되고 아직 전환하지 않은 프로젝트를 목록에서 선택합니다.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프로젝트 단계(분석/설계/개발/테스트) 2) RFP 항목(평가 요약 참고) 3) 프로젝트 관리자 1명(PM/PL/PMO) + 투입 인력(역할·투입 단계·M/M·기간)을 선택합니다.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업무 배분: 투입 인력 전체에 M/M 비율로 분배(개발자 우선) / 단계 대표 1명 / 미배정. 투입 인력이 없는 단계는 관리자에게 배정합니다.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미리보기로 WBS 업무 수·기간·문서 테일러링 적용 수를 확인하고 실행하면 수행 단계 기초데이터(문서 테일러링·WBS)가 생성되고 프로젝트가 「수행 중」이 됩니다.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45720" y="45720"/>
            <a:ext cx="12100255" cy="6766560"/>
          </a:xfrm>
          <a:prstGeom prst="rect">
            <a:avLst/>
          </a:prstGeom>
          <a:ln w="9525">
            <a:solidFill>
              <a:srgbClr val="1F2937"/>
            </a:solidFill>
            <a:prstDash val="solid"/>
          </a:ln>
        </p:spPr>
      </p:sp>
      <p:sp>
        <p:nvSpPr>
          <p:cNvPr id="3" name="header-line"/>
          <p:cNvSpPr/>
          <p:nvPr/>
        </p:nvSpPr>
        <p:spPr>
          <a:xfrm>
            <a:off x="45720" y="566928"/>
            <a:ext cx="1210025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" name="divider"/>
          <p:cNvSpPr/>
          <p:nvPr/>
        </p:nvSpPr>
        <p:spPr>
          <a:xfrm>
            <a:off x="8778240" y="45720"/>
            <a:ext cx="0" cy="67665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9144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: 단계전환 &gt; 운영단계전환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15400" y="91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800" dirty="0"/>
          </a:p>
        </p:txBody>
      </p:sp>
      <p:pic>
        <p:nvPicPr>
          <p:cNvPr id="7" name="Image 0" descr="단계전환 &gt; 운영단계전환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76656"/>
            <a:ext cx="7960268" cy="6080760"/>
          </a:xfrm>
          <a:prstGeom prst="rect">
            <a:avLst/>
          </a:prstGeom>
        </p:spPr>
      </p:pic>
      <p:sp>
        <p:nvSpPr>
          <p:cNvPr id="8" name="screen-border"/>
          <p:cNvSpPr/>
          <p:nvPr/>
        </p:nvSpPr>
        <p:spPr>
          <a:xfrm>
            <a:off x="182880" y="676656"/>
            <a:ext cx="7960268" cy="6080760"/>
          </a:xfrm>
          <a:prstGeom prst="rect">
            <a:avLst/>
          </a:prstGeom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713232"/>
            <a:ext cx="310896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종료(준공/검수 완료) 상태이면서 아직 운영으로 전환하지 않은 프로젝트를 선택합니다.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형태(하자보수/유상 유지보수/둘 다)·기간·계약금액·SLA(등급, 응답·해결 목표 시간)를 정합니다.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인수 대상 선택: 운영 대상 기능, 수행에서 등록한 최신 산출물, 이관할 미해결 이슈.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관리자(1명)와 운영 인력(역할·M/M·기간)을 지정합니다(수행 인력 불러오기 지원). 실행하면 「운영 중」으로 전환됩니다.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45720" y="45720"/>
            <a:ext cx="12100255" cy="6766560"/>
          </a:xfrm>
          <a:prstGeom prst="rect">
            <a:avLst/>
          </a:prstGeom>
          <a:ln w="9525">
            <a:solidFill>
              <a:srgbClr val="1F2937"/>
            </a:solidFill>
            <a:prstDash val="solid"/>
          </a:ln>
        </p:spPr>
      </p:sp>
      <p:sp>
        <p:nvSpPr>
          <p:cNvPr id="3" name="header-line"/>
          <p:cNvSpPr/>
          <p:nvPr/>
        </p:nvSpPr>
        <p:spPr>
          <a:xfrm>
            <a:off x="45720" y="566928"/>
            <a:ext cx="1210025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" name="divider"/>
          <p:cNvSpPr/>
          <p:nvPr/>
        </p:nvSpPr>
        <p:spPr>
          <a:xfrm>
            <a:off x="8778240" y="45720"/>
            <a:ext cx="0" cy="67665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9144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: 수행 단계 &gt; 프로젝트 관리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15400" y="91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800" dirty="0"/>
          </a:p>
        </p:txBody>
      </p:sp>
      <p:pic>
        <p:nvPicPr>
          <p:cNvPr id="7" name="Image 0" descr="수행 단계 &gt; 프로젝트 관리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76656"/>
            <a:ext cx="7960268" cy="6080760"/>
          </a:xfrm>
          <a:prstGeom prst="rect">
            <a:avLst/>
          </a:prstGeom>
        </p:spPr>
      </p:pic>
      <p:sp>
        <p:nvSpPr>
          <p:cNvPr id="8" name="screen-border"/>
          <p:cNvSpPr/>
          <p:nvPr/>
        </p:nvSpPr>
        <p:spPr>
          <a:xfrm>
            <a:off x="182880" y="676656"/>
            <a:ext cx="7960268" cy="6080760"/>
          </a:xfrm>
          <a:prstGeom prst="rect">
            <a:avLst/>
          </a:prstGeom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713232"/>
            <a:ext cx="310896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영업단계 기본 정보(수정 불가)와 수행 관리 정보(프로젝트 관리자·투입 인력 = 프로젝트 멤버)를 한 화면에서 봅니다.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관리자만 투입 계획 변경을 요청할 수 있으며, 사유(필수) 등록 → 인력 관리자 승인 후 반영, 모든 요청은 이력으로 남습니다.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협력사 인력은 알림 채널을 지정해 내 업무 알림으로 진척·이슈를 처리합니다(관리자 대신 입력 가능).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종료 처리(준공일·운영 인수 대상 기능)를 하면 운영단계전환 대상이 됩니다.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45720" y="45720"/>
            <a:ext cx="12100255" cy="6766560"/>
          </a:xfrm>
          <a:prstGeom prst="rect">
            <a:avLst/>
          </a:prstGeom>
          <a:ln w="9525">
            <a:solidFill>
              <a:srgbClr val="1F2937"/>
            </a:solidFill>
            <a:prstDash val="solid"/>
          </a:ln>
        </p:spPr>
      </p:sp>
      <p:sp>
        <p:nvSpPr>
          <p:cNvPr id="3" name="header-line"/>
          <p:cNvSpPr/>
          <p:nvPr/>
        </p:nvSpPr>
        <p:spPr>
          <a:xfrm>
            <a:off x="45720" y="566928"/>
            <a:ext cx="1210025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" name="divider"/>
          <p:cNvSpPr/>
          <p:nvPr/>
        </p:nvSpPr>
        <p:spPr>
          <a:xfrm>
            <a:off x="8778240" y="45720"/>
            <a:ext cx="0" cy="67665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9144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: 수행 단계 &gt; 문서 테일러링 관리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15400" y="91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800" dirty="0"/>
          </a:p>
        </p:txBody>
      </p:sp>
      <p:pic>
        <p:nvPicPr>
          <p:cNvPr id="7" name="Image 0" descr="수행 단계 &gt; 문서 테일러링 관리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76656"/>
            <a:ext cx="7960268" cy="6080760"/>
          </a:xfrm>
          <a:prstGeom prst="rect">
            <a:avLst/>
          </a:prstGeom>
        </p:spPr>
      </p:pic>
      <p:sp>
        <p:nvSpPr>
          <p:cNvPr id="8" name="screen-border"/>
          <p:cNvSpPr/>
          <p:nvPr/>
        </p:nvSpPr>
        <p:spPr>
          <a:xfrm>
            <a:off x="182880" y="676656"/>
            <a:ext cx="7960268" cy="6080760"/>
          </a:xfrm>
          <a:prstGeom prst="rect">
            <a:avLst/>
          </a:prstGeom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713232"/>
            <a:ext cx="310896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단계(분석·설계·개발·테스트)별 표준 산출물(문서 종류)을 프로젝트에 적용할지 정합니다(적용/미적용).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미적용은 사유가 필수이고, 필수 산출물을 제외하면 발주사 합의 필요 경고를 표시합니다.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지정, 프로젝트 고유 문서 종류 추가, 표준 목록으로 초기화.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적용된 문서는 WBS 단계말 검토에서 등록·수정·다운로드하는 대상이 됩니다.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45720" y="45720"/>
            <a:ext cx="12100255" cy="6766560"/>
          </a:xfrm>
          <a:prstGeom prst="rect">
            <a:avLst/>
          </a:prstGeom>
          <a:ln w="9525">
            <a:solidFill>
              <a:srgbClr val="1F2937"/>
            </a:solidFill>
            <a:prstDash val="solid"/>
          </a:ln>
        </p:spPr>
      </p:sp>
      <p:sp>
        <p:nvSpPr>
          <p:cNvPr id="3" name="header-line"/>
          <p:cNvSpPr/>
          <p:nvPr/>
        </p:nvSpPr>
        <p:spPr>
          <a:xfrm>
            <a:off x="45720" y="566928"/>
            <a:ext cx="1210025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" name="divider"/>
          <p:cNvSpPr/>
          <p:nvPr/>
        </p:nvSpPr>
        <p:spPr>
          <a:xfrm>
            <a:off x="8778240" y="45720"/>
            <a:ext cx="0" cy="67665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9144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: 수행 단계 &gt; WBS / 진척 관리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15400" y="91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800" dirty="0"/>
          </a:p>
        </p:txBody>
      </p:sp>
      <p:pic>
        <p:nvPicPr>
          <p:cNvPr id="7" name="Image 0" descr="수행 단계 &gt; WBS / 진척 관리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76656"/>
            <a:ext cx="7960268" cy="6080760"/>
          </a:xfrm>
          <a:prstGeom prst="rect">
            <a:avLst/>
          </a:prstGeom>
        </p:spPr>
      </p:pic>
      <p:sp>
        <p:nvSpPr>
          <p:cNvPr id="8" name="screen-border"/>
          <p:cNvSpPr/>
          <p:nvPr/>
        </p:nvSpPr>
        <p:spPr>
          <a:xfrm>
            <a:off x="182880" y="676656"/>
            <a:ext cx="7960268" cy="6080760"/>
          </a:xfrm>
          <a:prstGeom prst="rect">
            <a:avLst/>
          </a:prstGeom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713232"/>
            <a:ext cx="310896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→ 분류 → 작업 트리. 같은 기능이 분석 → 설계 → 개발 → 테스트 단계마다 업무로 들어가며 선행 단계가 끝나야 진행할 수 있습니다.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 업무만 진척률을 입력하고 상위는 가중평균으로 자동 집계합니다(목표 대비 실적).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「기능 × 단계」 보기, 업무 복사(업무당 담당자 1명, 가중치 균등 분배).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단계말 검토 행에서 산출물 등록·수정·다운로드(버전 관리), 업무별 이슈 연결(⚠)을 제공합니다.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45720" y="45720"/>
            <a:ext cx="12100255" cy="6766560"/>
          </a:xfrm>
          <a:prstGeom prst="rect">
            <a:avLst/>
          </a:prstGeom>
          <a:ln w="9525">
            <a:solidFill>
              <a:srgbClr val="1F2937"/>
            </a:solidFill>
            <a:prstDash val="solid"/>
          </a:ln>
        </p:spPr>
      </p:sp>
      <p:sp>
        <p:nvSpPr>
          <p:cNvPr id="3" name="header-line"/>
          <p:cNvSpPr/>
          <p:nvPr/>
        </p:nvSpPr>
        <p:spPr>
          <a:xfrm>
            <a:off x="45720" y="566928"/>
            <a:ext cx="1210025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" name="divider"/>
          <p:cNvSpPr/>
          <p:nvPr/>
        </p:nvSpPr>
        <p:spPr>
          <a:xfrm>
            <a:off x="8778240" y="45720"/>
            <a:ext cx="0" cy="67665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9144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: 수행 단계 &gt; 이슈 관리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15400" y="91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800" dirty="0"/>
          </a:p>
        </p:txBody>
      </p:sp>
      <p:sp>
        <p:nvSpPr>
          <p:cNvPr id="8" name="screen-border"/>
          <p:cNvSpPr/>
          <p:nvPr/>
        </p:nvSpPr>
        <p:spPr>
          <a:xfrm>
            <a:off x="182880" y="676656"/>
            <a:ext cx="8549640" cy="4207602"/>
          </a:xfrm>
          <a:prstGeom prst="rect">
            <a:avLst/>
          </a:prstGeom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713232"/>
            <a:ext cx="310896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이슈를 등록·추적합니다: 유형, 우선순위, 상태(오픈 → 진행 중 → 해결 → 종결), 담당자, 조치 기한, 일정 영향, 처리 이력.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WBS 업무와 양방향 연결: 이슈에서 「WBS ›」로 해당 업무로 이동, WBS 업무에서 이슈 등록·연결.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집계: 미해결, 긴급·높음 미해결, 조치 기한 초과, 업무 미연결 이슈.</a:t>
            </a:r>
            <a:endParaRPr lang="en-US" sz="1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EBECA28-A65F-5050-5D06-42634521D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30" y="695510"/>
            <a:ext cx="8533589" cy="41887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45720" y="45720"/>
            <a:ext cx="12100255" cy="6766560"/>
          </a:xfrm>
          <a:prstGeom prst="rect">
            <a:avLst/>
          </a:prstGeom>
          <a:ln w="9525">
            <a:solidFill>
              <a:srgbClr val="1F2937"/>
            </a:solidFill>
            <a:prstDash val="solid"/>
          </a:ln>
        </p:spPr>
      </p:sp>
      <p:sp>
        <p:nvSpPr>
          <p:cNvPr id="3" name="header-line"/>
          <p:cNvSpPr/>
          <p:nvPr/>
        </p:nvSpPr>
        <p:spPr>
          <a:xfrm>
            <a:off x="45720" y="566928"/>
            <a:ext cx="1210025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" name="divider"/>
          <p:cNvSpPr/>
          <p:nvPr/>
        </p:nvSpPr>
        <p:spPr>
          <a:xfrm>
            <a:off x="8778240" y="45720"/>
            <a:ext cx="0" cy="67665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9144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: 수행 단계 &gt; 주간 보고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15400" y="91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800" dirty="0"/>
          </a:p>
        </p:txBody>
      </p:sp>
      <p:pic>
        <p:nvPicPr>
          <p:cNvPr id="7" name="Image 0" descr="수행 단계 &gt; 주간 보고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76656"/>
            <a:ext cx="7960268" cy="6080760"/>
          </a:xfrm>
          <a:prstGeom prst="rect">
            <a:avLst/>
          </a:prstGeom>
        </p:spPr>
      </p:pic>
      <p:sp>
        <p:nvSpPr>
          <p:cNvPr id="8" name="screen-border"/>
          <p:cNvSpPr/>
          <p:nvPr/>
        </p:nvSpPr>
        <p:spPr>
          <a:xfrm>
            <a:off x="182880" y="676656"/>
            <a:ext cx="7960268" cy="6080760"/>
          </a:xfrm>
          <a:prstGeom prst="rect">
            <a:avLst/>
          </a:prstGeom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713232"/>
            <a:ext cx="310896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사용자가 참여한 프로젝트별로 업무·이슈 데이터를 모아 보고서를 구성합니다.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좌측: 현재 진행 중인 업무와 진척률 / 우측: 다음 주 업무와 기한 / 하단: 금주 해결한 이슈와 진행 중인 이슈.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요약(전체 진척·계획 대비·완료·지연·미해결 이슈), 기간 이동, 내 업무만 보기.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특이사항 입력, 보고 내용 복사(메일·메신저용), 엑셀/PDF 내보내기.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45720" y="45720"/>
            <a:ext cx="12100255" cy="6766560"/>
          </a:xfrm>
          <a:prstGeom prst="rect">
            <a:avLst/>
          </a:prstGeom>
          <a:ln w="9525">
            <a:solidFill>
              <a:srgbClr val="1F2937"/>
            </a:solidFill>
            <a:prstDash val="solid"/>
          </a:ln>
        </p:spPr>
      </p:sp>
      <p:sp>
        <p:nvSpPr>
          <p:cNvPr id="3" name="header-line"/>
          <p:cNvSpPr/>
          <p:nvPr/>
        </p:nvSpPr>
        <p:spPr>
          <a:xfrm>
            <a:off x="45720" y="566928"/>
            <a:ext cx="1210025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" name="divider"/>
          <p:cNvSpPr/>
          <p:nvPr/>
        </p:nvSpPr>
        <p:spPr>
          <a:xfrm>
            <a:off x="8778240" y="45720"/>
            <a:ext cx="0" cy="67665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9144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: 수행 단계 &gt; 월간 보고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15400" y="91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800" dirty="0"/>
          </a:p>
        </p:txBody>
      </p:sp>
      <p:pic>
        <p:nvPicPr>
          <p:cNvPr id="7" name="Image 0" descr="수행 단계 &gt; 월간 보고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76656"/>
            <a:ext cx="7960268" cy="6080760"/>
          </a:xfrm>
          <a:prstGeom prst="rect">
            <a:avLst/>
          </a:prstGeom>
        </p:spPr>
      </p:pic>
      <p:sp>
        <p:nvSpPr>
          <p:cNvPr id="8" name="screen-border"/>
          <p:cNvSpPr/>
          <p:nvPr/>
        </p:nvSpPr>
        <p:spPr>
          <a:xfrm>
            <a:off x="182880" y="676656"/>
            <a:ext cx="7960268" cy="6080760"/>
          </a:xfrm>
          <a:prstGeom prst="rect">
            <a:avLst/>
          </a:prstGeom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713232"/>
            <a:ext cx="310896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보고와 같은 구성을 월 단위로 제공합니다(당월 진행 업무, 다음 달 업무, 당월 해결·진행 중 이슈).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전용: 단계별 진척(실적 / 목표) 막대로 단계별 진행 상태를 확인합니다.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프로젝트별 요약, 기간 이동, 특이사항, 보고 내용 복사.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45720" y="45720"/>
            <a:ext cx="12100255" cy="6766560"/>
          </a:xfrm>
          <a:prstGeom prst="rect">
            <a:avLst/>
          </a:prstGeom>
          <a:ln w="9525">
            <a:solidFill>
              <a:srgbClr val="1F2937"/>
            </a:solidFill>
            <a:prstDash val="solid"/>
          </a:ln>
        </p:spPr>
      </p:sp>
      <p:sp>
        <p:nvSpPr>
          <p:cNvPr id="3" name="header-line"/>
          <p:cNvSpPr/>
          <p:nvPr/>
        </p:nvSpPr>
        <p:spPr>
          <a:xfrm>
            <a:off x="45720" y="566928"/>
            <a:ext cx="1210025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" name="divider"/>
          <p:cNvSpPr/>
          <p:nvPr/>
        </p:nvSpPr>
        <p:spPr>
          <a:xfrm>
            <a:off x="8778240" y="45720"/>
            <a:ext cx="0" cy="67665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9144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: 수행 단계 &gt; 내 업무 대시보드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15400" y="91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800" dirty="0"/>
          </a:p>
        </p:txBody>
      </p:sp>
      <p:pic>
        <p:nvPicPr>
          <p:cNvPr id="7" name="Image 0" descr="수행 단계 &gt; 내 업무 대시보드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76656"/>
            <a:ext cx="8549640" cy="5319776"/>
          </a:xfrm>
          <a:prstGeom prst="rect">
            <a:avLst/>
          </a:prstGeom>
        </p:spPr>
      </p:pic>
      <p:sp>
        <p:nvSpPr>
          <p:cNvPr id="8" name="screen-border"/>
          <p:cNvSpPr/>
          <p:nvPr/>
        </p:nvSpPr>
        <p:spPr>
          <a:xfrm>
            <a:off x="182880" y="676656"/>
            <a:ext cx="8549640" cy="5319776"/>
          </a:xfrm>
          <a:prstGeom prst="rect">
            <a:avLst/>
          </a:prstGeom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713232"/>
            <a:ext cx="310896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사용자에게 할당된 업무를 오늘 마감·지연·진행 중·예정·완료로 집계해 보여줍니다.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진척률 버튼(0~100%)으로 바로 입력합니다. 메신저 알림 버튼과 같은 방식이며 선행 단계가 끝나지 않으면 입력이 제한됩니다.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텔레그램·Mattermost 알림 미리보기와 참여 프로젝트 진척을 함께 표시합니다.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45720" y="45720"/>
            <a:ext cx="12100255" cy="6766560"/>
          </a:xfrm>
          <a:prstGeom prst="rect">
            <a:avLst/>
          </a:prstGeom>
          <a:ln w="9525">
            <a:solidFill>
              <a:srgbClr val="1F2937"/>
            </a:solidFill>
            <a:prstDash val="solid"/>
          </a:ln>
        </p:spPr>
      </p:sp>
      <p:sp>
        <p:nvSpPr>
          <p:cNvPr id="3" name="header-line"/>
          <p:cNvSpPr/>
          <p:nvPr/>
        </p:nvSpPr>
        <p:spPr>
          <a:xfrm>
            <a:off x="45720" y="566928"/>
            <a:ext cx="1210025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" name="divider"/>
          <p:cNvSpPr/>
          <p:nvPr/>
        </p:nvSpPr>
        <p:spPr>
          <a:xfrm>
            <a:off x="8778240" y="45720"/>
            <a:ext cx="0" cy="67665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9144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: 운영 단계 &gt; 프로젝트 관리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15400" y="91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800" dirty="0"/>
          </a:p>
        </p:txBody>
      </p:sp>
      <p:pic>
        <p:nvPicPr>
          <p:cNvPr id="7" name="Image 0" descr="운영 단계 &gt; 프로젝트 관리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76656"/>
            <a:ext cx="7960268" cy="6080760"/>
          </a:xfrm>
          <a:prstGeom prst="rect">
            <a:avLst/>
          </a:prstGeom>
        </p:spPr>
      </p:pic>
      <p:sp>
        <p:nvSpPr>
          <p:cNvPr id="8" name="screen-border"/>
          <p:cNvSpPr/>
          <p:nvPr/>
        </p:nvSpPr>
        <p:spPr>
          <a:xfrm>
            <a:off x="182880" y="676656"/>
            <a:ext cx="7960268" cy="6080760"/>
          </a:xfrm>
          <a:prstGeom prst="rect">
            <a:avLst/>
          </a:prstGeom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713232"/>
            <a:ext cx="310896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영업·수행 단계 정보(수정 불가)와 운영단계전환에서 지정한 운영 정보를 보여줍니다.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정보: 운영 형태·기간·계약금액·SLA(등급, 장애 응답·해결 목표, 서비스 시간).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관리자와 운영 인력(역할·M/M·투입 기간) — 수정은 운영 관리자만 할 수 있습니다.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인수(이관) 현황: 운영 대상 기능, 인수 산출물, 이관 이슈.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45720" y="45720"/>
            <a:ext cx="12100255" cy="6766560"/>
          </a:xfrm>
          <a:prstGeom prst="rect">
            <a:avLst/>
          </a:prstGeom>
          <a:ln w="9525">
            <a:solidFill>
              <a:srgbClr val="1F2937"/>
            </a:solidFill>
            <a:prstDash val="solid"/>
          </a:ln>
        </p:spPr>
      </p:sp>
      <p:sp>
        <p:nvSpPr>
          <p:cNvPr id="3" name="header-line"/>
          <p:cNvSpPr/>
          <p:nvPr/>
        </p:nvSpPr>
        <p:spPr>
          <a:xfrm>
            <a:off x="45720" y="566928"/>
            <a:ext cx="1210025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" name="divider"/>
          <p:cNvSpPr/>
          <p:nvPr/>
        </p:nvSpPr>
        <p:spPr>
          <a:xfrm>
            <a:off x="8778240" y="45720"/>
            <a:ext cx="0" cy="67665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9144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: 인력관리 &gt; 투입 관리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15400" y="91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800" dirty="0"/>
          </a:p>
        </p:txBody>
      </p:sp>
      <p:pic>
        <p:nvPicPr>
          <p:cNvPr id="7" name="Image 0" descr="인력관리 &gt; 투입 관리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76656"/>
            <a:ext cx="8549640" cy="5913501"/>
          </a:xfrm>
          <a:prstGeom prst="rect">
            <a:avLst/>
          </a:prstGeom>
        </p:spPr>
      </p:pic>
      <p:sp>
        <p:nvSpPr>
          <p:cNvPr id="8" name="screen-border"/>
          <p:cNvSpPr/>
          <p:nvPr/>
        </p:nvSpPr>
        <p:spPr>
          <a:xfrm>
            <a:off x="182880" y="676656"/>
            <a:ext cx="8549640" cy="5913501"/>
          </a:xfrm>
          <a:prstGeom prst="rect">
            <a:avLst/>
          </a:prstGeom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713232"/>
            <a:ext cx="310896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수행·운영 프로젝트의 투입 계획을 인력 기준으로 모아 월별 투입률 히트맵과 과투입 경고(기준은 ⚙ 설정에서 변경)를 보여줍니다.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 상세에서 월별 계획·실적 M/M을 확인하고, 실적은 프로젝트 관리자가 입력합니다.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프로젝트별 계획·실적·소진율, 기간·직무로 투입 가능 인력을 찾는 가용 인력 조회.</a:t>
            </a:r>
            <a:endParaRPr lang="en-US" sz="140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요청·이력 탭에서 투입 계획 변경 요청을 승인/반려합니다.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1536</Words>
  <Application>Microsoft Office PowerPoint</Application>
  <PresentationFormat>와이드스크린</PresentationFormat>
  <Paragraphs>139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PMS 화면 설계서 (목업)</dc:title>
  <dc:subject>PptxGenJS Presentation</dc:subject>
  <dc:creator>PMS</dc:creator>
  <cp:lastModifiedBy>성수 배</cp:lastModifiedBy>
  <cp:revision>2</cp:revision>
  <dcterms:created xsi:type="dcterms:W3CDTF">2026-10-13T06:55:51Z</dcterms:created>
  <dcterms:modified xsi:type="dcterms:W3CDTF">2026-10-14T01:12:31Z</dcterms:modified>
</cp:coreProperties>
</file>